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4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110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731520"/>
            <a:ext cx="3474720" cy="34747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5029200"/>
            <a:ext cx="2560320" cy="25603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509760" y="4846320"/>
            <a:ext cx="1371600" cy="13716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56032" cy="2926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115568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100" dirty="0">
                <a:solidFill>
                  <a:srgbClr val="EDE9FE"/>
                </a:solidFill>
              </a:rPr>
              <a:t>Claude Code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05840" y="2267712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9E0B"/>
                </a:solidFill>
              </a:rPr>
              <a:t>A Builder's First Look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78BFA"/>
                </a:solidFill>
              </a:rPr>
              <a:t>What it is  ·  How it fits alongside Copilot  ·  What I actually built with it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3703320"/>
            <a:ext cx="2468880" cy="292608"/>
          </a:xfrm>
          <a:prstGeom prst="roundRect">
            <a:avLst>
              <a:gd name="adj" fmla="val 40625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B5FD"/>
                </a:solidFill>
              </a:rPr>
              <a:t>For LLM App Builders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0" y="3703320"/>
            <a:ext cx="2468880" cy="292608"/>
          </a:xfrm>
          <a:prstGeom prst="roundRect">
            <a:avLst>
              <a:gd name="adj" fmla="val 40625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0" y="37033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B5FD"/>
                </a:solidFill>
              </a:rPr>
              <a:t>Copilot Users Welcome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3703320"/>
            <a:ext cx="2468880" cy="292608"/>
          </a:xfrm>
          <a:prstGeom prst="roundRect">
            <a:avLst>
              <a:gd name="adj" fmla="val 40625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37033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B5FD"/>
                </a:solidFill>
              </a:rPr>
              <a:t>Casual Share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0" y="3703320"/>
            <a:ext cx="2468880" cy="292608"/>
          </a:xfrm>
          <a:prstGeom prst="roundRect">
            <a:avLst>
              <a:gd name="adj" fmla="val 40625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61120" y="37033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B5FD"/>
                </a:solidFill>
              </a:rPr>
              <a:t>May 2026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309360"/>
            <a:ext cx="12192000" cy="438912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6309360"/>
            <a:ext cx="1170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D6FE"/>
                </a:solidFill>
              </a:rPr>
              <a:t>Learning Group Share  ·  ~30 min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875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338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DE9FE"/>
                </a:solidFill>
              </a:rPr>
              <a:t>⚖️  You Already Have Copilot — So What's Different?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2103120" cy="530352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606040" y="1078992"/>
            <a:ext cx="4114800" cy="530352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606040" y="107899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91B2"/>
                </a:solidFill>
              </a:rPr>
              <a:t>GitHub Copilot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0" y="1078992"/>
            <a:ext cx="4937760" cy="530352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0" y="1078992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28D9"/>
                </a:solidFill>
              </a:rPr>
              <a:t>Claude Code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0" y="1133856"/>
            <a:ext cx="51206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133856"/>
            <a:ext cx="5120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917"/>
                </a:solidFill>
              </a:rPr>
              <a:t>VS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2103120" cy="74980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06040" y="1664208"/>
            <a:ext cx="4114800" cy="749808"/>
          </a:xfrm>
          <a:prstGeom prst="rect">
            <a:avLst/>
          </a:prstGeom>
          <a:solidFill>
            <a:srgbClr val="F0FF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58000" y="1664208"/>
            <a:ext cx="4937760" cy="749808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664208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7534E"/>
                </a:solidFill>
              </a:rPr>
              <a:t>Positioning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43200" y="166420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C1917"/>
                </a:solidFill>
              </a:rPr>
              <a:t>IDE plugin — assists developers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C1917"/>
                </a:solidFill>
              </a:rPr>
              <a:t>writing code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95160" y="1664208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6D28D9"/>
                </a:solidFill>
              </a:rPr>
              <a:t>Terminal Agent — autonomously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6D28D9"/>
                </a:solidFill>
              </a:rPr>
              <a:t>completes tasks end-to-end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414016"/>
            <a:ext cx="2103120" cy="749808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606040" y="2414016"/>
            <a:ext cx="4114800" cy="749808"/>
          </a:xfrm>
          <a:prstGeom prst="rect">
            <a:avLst/>
          </a:prstGeom>
          <a:solidFill>
            <a:srgbClr val="E6FF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0" y="2414016"/>
            <a:ext cx="4937760" cy="749808"/>
          </a:xfrm>
          <a:prstGeom prst="rect">
            <a:avLst/>
          </a:prstGeom>
          <a:solidFill>
            <a:srgbClr val="E8E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414016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7534E"/>
                </a:solidFill>
              </a:rPr>
              <a:t>How you use it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743200" y="2414016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C1917"/>
                </a:solidFill>
              </a:rPr>
              <a:t>Real-time autocomplete + chat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C1917"/>
                </a:solidFill>
              </a:rPr>
              <a:t>sidebar inside your editor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2414016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6D28D9"/>
                </a:solidFill>
              </a:rPr>
              <a:t>Give it a task → it plans,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6D28D9"/>
                </a:solidFill>
              </a:rPr>
              <a:t>executes, and reports back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163824"/>
            <a:ext cx="2103120" cy="74980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606040" y="3163824"/>
            <a:ext cx="4114800" cy="749808"/>
          </a:xfrm>
          <a:prstGeom prst="rect">
            <a:avLst/>
          </a:prstGeom>
          <a:solidFill>
            <a:srgbClr val="F0FF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58000" y="3163824"/>
            <a:ext cx="4937760" cy="749808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163824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7534E"/>
                </a:solidFill>
              </a:rPr>
              <a:t>Where it runs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743200" y="316382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C1917"/>
                </a:solidFill>
              </a:rPr>
              <a:t>Inside VS Code / JetBrains etc.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C1917"/>
                </a:solidFill>
              </a:rPr>
              <a:t>(never leaves the editor)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95160" y="3163824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6D28D9"/>
                </a:solidFill>
              </a:rPr>
              <a:t>In your terminal — any directory,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6D28D9"/>
                </a:solidFill>
              </a:rPr>
              <a:t>any shell, any project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913632"/>
            <a:ext cx="2103120" cy="749808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606040" y="3913632"/>
            <a:ext cx="4114800" cy="749808"/>
          </a:xfrm>
          <a:prstGeom prst="rect">
            <a:avLst/>
          </a:prstGeom>
          <a:solidFill>
            <a:srgbClr val="E6FF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58000" y="3913632"/>
            <a:ext cx="4937760" cy="749808"/>
          </a:xfrm>
          <a:prstGeom prst="rect">
            <a:avLst/>
          </a:prstGeom>
          <a:solidFill>
            <a:srgbClr val="E8E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913632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7534E"/>
                </a:solidFill>
              </a:rPr>
              <a:t>What it touches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743200" y="391363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C1917"/>
                </a:solidFill>
              </a:rPr>
              <a:t>Suggestions in current file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C1917"/>
                </a:solidFill>
              </a:rPr>
              <a:t>+ selected context only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3913632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6D28D9"/>
                </a:solidFill>
              </a:rPr>
              <a:t>Files, shell commands, package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6D28D9"/>
                </a:solidFill>
              </a:rPr>
              <a:t>installs — the whole project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663440"/>
            <a:ext cx="2103120" cy="74980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606040" y="4663440"/>
            <a:ext cx="4114800" cy="749808"/>
          </a:xfrm>
          <a:prstGeom prst="rect">
            <a:avLst/>
          </a:prstGeom>
          <a:solidFill>
            <a:srgbClr val="F0FF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858000" y="4663440"/>
            <a:ext cx="4937760" cy="749808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4663440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7534E"/>
                </a:solidFill>
              </a:rPr>
              <a:t>Learning curve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743200" y="466344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C1917"/>
                </a:solidFill>
              </a:rPr>
              <a:t>Near-zero config — install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C1917"/>
                </a:solidFill>
              </a:rPr>
              <a:t>and it works immediately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95160" y="4663440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6D28D9"/>
                </a:solidFill>
              </a:rPr>
              <a:t>Needs prompt thinking &amp;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6D28D9"/>
                </a:solidFill>
              </a:rPr>
              <a:t>context management habits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5413248"/>
            <a:ext cx="2103120" cy="749808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606040" y="5413248"/>
            <a:ext cx="4114800" cy="749808"/>
          </a:xfrm>
          <a:prstGeom prst="rect">
            <a:avLst/>
          </a:prstGeom>
          <a:solidFill>
            <a:srgbClr val="E6FF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858000" y="5413248"/>
            <a:ext cx="4937760" cy="749808"/>
          </a:xfrm>
          <a:prstGeom prst="rect">
            <a:avLst/>
          </a:prstGeom>
          <a:solidFill>
            <a:srgbClr val="E8E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5413248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7534E"/>
                </a:solidFill>
              </a:rPr>
              <a:t>Best for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2743200" y="541324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C1917"/>
                </a:solidFill>
              </a:rPr>
              <a:t>Fast inline completion,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C1917"/>
                </a:solidFill>
              </a:rPr>
              <a:t>boilerplate, quick chat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95160" y="5413248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6D28D9"/>
                </a:solidFill>
              </a:rPr>
              <a:t>New features, refactors,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6D28D9"/>
                </a:solidFill>
              </a:rPr>
              <a:t>multi-file changes, debugging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0" y="6309360"/>
            <a:ext cx="12192000" cy="438912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" y="6309360"/>
            <a:ext cx="1170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6FE"/>
                </a:solidFill>
              </a:rPr>
              <a:t>Complementary, not competing  —  Copilot for inline flow  ·  CC for bigger project-level moves  ·  Use both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875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338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DE9FE"/>
                </a:solidFill>
              </a:rPr>
              <a:t>🍅  What I Built: A Pomodoro Timer — CC Did the Heavy Lifting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5440680" cy="507492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704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D28D9"/>
                </a:solidFill>
              </a:rPr>
              <a:t>What it does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94360" y="1636776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59105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Work / Short Break / Long Break modes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(25 / 5 / 15 min — user-configurable)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2414016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36829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SVG ring that animates as time counts down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(stroke-dashoffset driven by timeLeft / totalSec)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3191256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314553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Audio beep via WScript.Shell + PowerShell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[console]::beep — only works inside an HTA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3968496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92277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Bilingual UI — English / Chinese toggle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(i18n strings object + T() helper function)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4709160"/>
            <a:ext cx="4983480" cy="36576"/>
          </a:xfrm>
          <a:prstGeom prst="rect">
            <a:avLst/>
          </a:prstGeom>
          <a:solidFill>
            <a:srgbClr val="C4B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4773168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</a:rPr>
              <a:t>CC had to hold these constraints throughout: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5084064"/>
            <a:ext cx="1554480" cy="292608"/>
          </a:xfrm>
          <a:prstGeom prst="roundRect">
            <a:avLst>
              <a:gd name="adj" fmla="val 40625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508406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DD6FE"/>
                </a:solidFill>
              </a:rPr>
              <a:t>IE11 engine (HTA)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58568" y="5084064"/>
            <a:ext cx="1554480" cy="292608"/>
          </a:xfrm>
          <a:prstGeom prst="roundRect">
            <a:avLst>
              <a:gd name="adj" fmla="val 40625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58568" y="508406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DD6FE"/>
                </a:solidFill>
              </a:rPr>
              <a:t>ES3 — no const/let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922776" y="5084064"/>
            <a:ext cx="1554480" cy="292608"/>
          </a:xfrm>
          <a:prstGeom prst="roundRect">
            <a:avLst>
              <a:gd name="adj" fmla="val 40625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22776" y="508406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DD6FE"/>
                </a:solidFill>
              </a:rPr>
              <a:t>Single file, no imports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5486400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7534E"/>
                </a:solidFill>
              </a:rPr>
              <a:t>It never drifted to modern syntax — that's the part that impressed me.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5989320"/>
            <a:ext cx="4983480" cy="292608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59893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Start-Process pomodoro.hta    (or double-click in Explorer)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1078992"/>
            <a:ext cx="5760720" cy="5074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89320" y="1078992"/>
            <a:ext cx="5760720" cy="384048"/>
          </a:xfrm>
          <a:prstGeom prst="rect">
            <a:avLst/>
          </a:prstGeom>
          <a:solidFill>
            <a:srgbClr val="2A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44768" y="107899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</a:rPr>
              <a:t>🍅  Pomodoro Timer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607040" y="1170432"/>
            <a:ext cx="182880" cy="18288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881360" y="1170432"/>
            <a:ext cx="182880" cy="18288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155680" y="1170432"/>
            <a:ext cx="182880" cy="18288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35240" y="1947672"/>
            <a:ext cx="2468880" cy="2468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936992" y="2249424"/>
            <a:ext cx="1865376" cy="1865376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35240" y="281635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25:00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7635240" y="3474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DDDDEE"/>
                </a:solidFill>
              </a:rPr>
              <a:t>WORK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72200" y="449884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88"/>
                </a:solidFill>
              </a:rPr>
              <a:t>● ● ○ ○   Session 1 of 4   ·   0 completed today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484632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72200" y="48463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1917"/>
                </a:solidFill>
              </a:rPr>
              <a:t>WORK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909560" y="484632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2E2E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909560" y="48463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88"/>
                </a:solidFill>
              </a:rPr>
              <a:t>SHORT BREAK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646920" y="484632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2E2E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646920" y="48463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88"/>
                </a:solidFill>
              </a:rPr>
              <a:t>LONG BREAK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360920" y="5266944"/>
            <a:ext cx="3017520" cy="420624"/>
          </a:xfrm>
          <a:prstGeom prst="roundRect">
            <a:avLst>
              <a:gd name="adj" fmla="val 21739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360920" y="526694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E9FE"/>
                </a:solidFill>
              </a:rPr>
              <a:t>▶  START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2200" y="5779008"/>
            <a:ext cx="5394960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172200" y="577900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917"/>
                </a:solidFill>
              </a:rPr>
              <a:t>▶  LIVE DEMO  —  double-click  pomodoro.hta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0" y="6309360"/>
            <a:ext cx="12192000" cy="438912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4320" y="6309360"/>
            <a:ext cx="1170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6FE"/>
                </a:solidFill>
              </a:rPr>
              <a:t>Single-file HTA  ·  No build step  ·  No npm  ·  IE11 engine  ·  ~400 lines ES3 JavaScript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875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338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DE9FE"/>
                </a:solidFill>
              </a:rPr>
              <a:t>🔁  The 3 Modes — Default → Plan → Accept Edits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1430000" cy="54864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8D9"/>
                </a:solidFill>
              </a:rPr>
              <a:t>CC starts in Default Mode. Shift+Tab cycles forward. Think of it as: chat → plan → execute.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11430000" cy="347472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+ Tab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71907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</a:rPr>
              <a:t>cycles through all three modes  ·  CC starts in Default Mode when you launch 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3657600" cy="3931920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28620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Default Mode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291840"/>
            <a:ext cx="3200400" cy="36576"/>
          </a:xfrm>
          <a:prstGeom prst="rect">
            <a:avLst/>
          </a:prstGeom>
          <a:solidFill>
            <a:srgbClr val="C4B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</a:rPr>
              <a:t>What CC does: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3621024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The starting state when you launch CC.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Conversation, questions, simple tasks.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4407408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</a:rPr>
              <a:t>Your role: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466344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Give instructions, ask questions,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verify output from previous steps.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5376672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5376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AF9"/>
                </a:solidFill>
              </a:rPr>
              <a:t>🔗 The "observe / prompt" step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2176272"/>
            <a:ext cx="3657600" cy="393192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51960" y="226771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434840" y="28620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28D9"/>
                </a:solidFill>
              </a:rPr>
              <a:t>Plan Mode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80560" y="3291840"/>
            <a:ext cx="3200400" cy="36576"/>
          </a:xfrm>
          <a:prstGeom prst="rect">
            <a:avLst/>
          </a:prstGeom>
          <a:solidFill>
            <a:srgbClr val="C4B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80560" y="3364992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</a:rPr>
              <a:t>What CC does: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480560" y="3621024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CC analyzes the task and maps out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steps — doesn't touch a file yet.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480560" y="4407408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</a:rPr>
              <a:t>Your role: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480560" y="466344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Review and adjust the plan before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giving CC the green light to proceed.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480560" y="5376672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80560" y="5376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AF9"/>
                </a:solidFill>
              </a:rPr>
              <a:t>🔗 The "reasoning / CoT" step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2176272"/>
            <a:ext cx="3657600" cy="39319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38160" y="226771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321040" y="28620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2400E"/>
                </a:solidFill>
              </a:rPr>
              <a:t>Accept Edits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366760" y="3291840"/>
            <a:ext cx="3200400" cy="36576"/>
          </a:xfrm>
          <a:prstGeom prst="rect">
            <a:avLst/>
          </a:prstGeom>
          <a:solidFill>
            <a:srgbClr val="C4B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366760" y="3364992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2400E"/>
                </a:solidFill>
              </a:rPr>
              <a:t>What CC does: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366760" y="3621024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CC executes: writes code, runs shell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commands, installs packages.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366760" y="4407408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2400E"/>
                </a:solidFill>
              </a:rPr>
              <a:t>Your role: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366760" y="466344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Approve each action individually, or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batch-approve with --dangerously-skip.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366760" y="5376672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366760" y="5376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AF9"/>
                </a:solidFill>
              </a:rPr>
              <a:t>🔗 The "tool use / execution" step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309360"/>
            <a:ext cx="12192000" cy="438912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6309360"/>
            <a:ext cx="1170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6FE"/>
                </a:solidFill>
              </a:rPr>
              <a:t>Pomodoro example: used Plan Mode to design the SVG ring animation before CC wrote a single line of code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875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338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DE9FE"/>
                </a:solidFill>
              </a:rPr>
              <a:t>📋  Claude.md — Your System Prompt for the Dev Environment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1430000" cy="54864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8D9"/>
                </a:solidFill>
              </a:rPr>
              <a:t>You already think in system prompts.  Claude.md IS a system prompt — CC reads it on every session start.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65760" y="1773936"/>
            <a:ext cx="5486400" cy="4379976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86537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28D9"/>
                </a:solidFill>
              </a:rPr>
              <a:t>📝  Claude.md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40864"/>
            <a:ext cx="5120640" cy="1481328"/>
          </a:xfrm>
          <a:prstGeom prst="roundRect">
            <a:avLst>
              <a:gd name="adj" fmla="val 6173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24323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</a:rPr>
              <a:t>Project-level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54680" y="2450592"/>
            <a:ext cx="2286000" cy="329184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245059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843784"/>
            <a:ext cx="47548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Created in the repo root.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Good for: language rules, architecture notes,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coding constraints like "IE11 only, no ES6".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120640" cy="1481328"/>
          </a:xfrm>
          <a:prstGeom prst="roundRect">
            <a:avLst>
              <a:gd name="adj" fmla="val 6173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40599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</a:rPr>
              <a:t>Global-level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154680" y="4078224"/>
            <a:ext cx="2286000" cy="329184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46120" y="4078224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/memory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3232" y="4471416"/>
            <a:ext cx="47548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Applies across ALL projects.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Good for: personal style, "always reply in English",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tool preferences that follow you everywhere.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55595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</a:rPr>
              <a:t>Actual CLAUDE.md from the Pomodoro project: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5833872"/>
            <a:ext cx="5120640" cy="292608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583387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IE11 only  ·  ES3 (no const/let/arrow)  ·  Single file  ·  ActiveXObject for sound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1773936"/>
            <a:ext cx="5669280" cy="43799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1865376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2400E"/>
                </a:solidFill>
              </a:rPr>
              <a:t>The LLM-builder translation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7534E"/>
                </a:solidFill>
              </a:rPr>
              <a:t>Everything in CC maps to patterns you already know: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2633472"/>
            <a:ext cx="2331720" cy="384048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686800" y="2633472"/>
            <a:ext cx="2926080" cy="384048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263347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32520" y="263347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</a:rPr>
              <a:t>→ System prompt you write once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3054096"/>
            <a:ext cx="2331720" cy="384048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86800" y="3054096"/>
            <a:ext cx="2926080" cy="384048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0" y="305409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Memory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32520" y="305409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</a:rPr>
              <a:t>→ Few-shot examples that accumulate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3474720"/>
            <a:ext cx="2331720" cy="384048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686800" y="3474720"/>
            <a:ext cx="2926080" cy="384048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0" y="347472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32520" y="34747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</a:rPr>
              <a:t>→ Context distillation / summarization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3895344"/>
            <a:ext cx="2331720" cy="384048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686800" y="3895344"/>
            <a:ext cx="2926080" cy="384048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0" y="389534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Sub-agents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732520" y="389534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</a:rPr>
              <a:t>→ Agent orchestration + tool routing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09360" y="4315968"/>
            <a:ext cx="2331720" cy="384048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686800" y="4315968"/>
            <a:ext cx="2926080" cy="384048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00800" y="431596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732520" y="431596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</a:rPr>
              <a:t>→ Tool-augmented agent plugins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09360" y="4736592"/>
            <a:ext cx="2331720" cy="384048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686800" y="4736592"/>
            <a:ext cx="2926080" cy="384048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00800" y="473659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--dangerously-skip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732520" y="473659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</a:rPr>
              <a:t>→ Full-auto mode (no human-in-loop)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309360" y="5193792"/>
            <a:ext cx="5212080" cy="896112"/>
          </a:xfrm>
          <a:prstGeom prst="roundRect">
            <a:avLst>
              <a:gd name="adj" fmla="val 10204"/>
            </a:avLst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73952" y="5230368"/>
            <a:ext cx="4882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EF3C7"/>
                </a:solidFill>
              </a:rPr>
              <a:t>🧠  Auto Memory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473952" y="5577840"/>
            <a:ext cx="4882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EF3C7"/>
                </a:solidFill>
              </a:rPr>
              <a:t>CC automatically retains corrections and preferences from your sessions.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EF3C7"/>
                </a:solidFill>
              </a:rPr>
              <a:t>Turn on:  /memory  →  "Auto-memory"  ·  Scoped per project.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0" y="6309360"/>
            <a:ext cx="12192000" cy="438912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74320" y="6309360"/>
            <a:ext cx="1170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6FE"/>
                </a:solidFill>
              </a:rPr>
              <a:t>If you already write system prompts, you already know how to write a good Claude.md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875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338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DE9FE"/>
                </a:solidFill>
              </a:rPr>
              <a:t>📊  Context Management — The Token Budget You Control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1430000" cy="54864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2400E"/>
                </a:solidFill>
              </a:rPr>
              <a:t>CC's context window is a resource you actively manage — same trade-offs you already reason about in your LLM apps.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65760" y="1773936"/>
            <a:ext cx="5577840" cy="1993392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88366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298448" y="1920240"/>
            <a:ext cx="1417320" cy="329184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89888" y="1920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/context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16352" y="192024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8D9"/>
                </a:solidFill>
              </a:rPr>
              <a:t>Inspect usage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8448" y="2340864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Shows breakdown by category: code, conversation, memory.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Check when responses start feeling vague or repetitive.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298448" y="3346704"/>
            <a:ext cx="4480560" cy="292608"/>
          </a:xfrm>
          <a:prstGeom prst="roundRect">
            <a:avLst>
              <a:gd name="adj" fmla="val 21875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98448" y="334670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AF9"/>
                </a:solidFill>
              </a:rPr>
              <a:t>💡 Rule of thumb: act at 60% full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773936"/>
            <a:ext cx="5577840" cy="1993392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82512" y="188366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🗜️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150608" y="1920240"/>
            <a:ext cx="1417320" cy="329184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42048" y="1920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68512" y="192024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Distill context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50608" y="2340864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Like summarization in your LLM pipeline — keeps key decisions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and code, discards conversational overhead.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50608" y="3346704"/>
            <a:ext cx="4480560" cy="292608"/>
          </a:xfrm>
          <a:prstGeom prst="roundRect">
            <a:avLst>
              <a:gd name="adj" fmla="val 21875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50608" y="334670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AF9"/>
                </a:solidFill>
              </a:rPr>
              <a:t>💡 Equivalent to "compress history"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58768"/>
            <a:ext cx="5577840" cy="1993392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" y="396849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🧹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1298448" y="4005072"/>
            <a:ext cx="1417320" cy="329184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89888" y="400507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816352" y="400507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</a:rPr>
              <a:t>Hard reset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98448" y="4425696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Full context wipe — fresh session.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Fastest fix when the model has drifted or mixed up tasks.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298448" y="5431536"/>
            <a:ext cx="4480560" cy="292608"/>
          </a:xfrm>
          <a:prstGeom prst="roundRect">
            <a:avLst>
              <a:gd name="adj" fmla="val 21875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98448" y="543153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AF9"/>
                </a:solidFill>
              </a:rPr>
              <a:t>💡 Best fix for a confused model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3858768"/>
            <a:ext cx="5577840" cy="1993392"/>
          </a:xfrm>
          <a:prstGeom prst="rect">
            <a:avLst/>
          </a:prstGeom>
          <a:solidFill>
            <a:srgbClr val="FCE7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82512" y="396849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7150608" y="4005072"/>
            <a:ext cx="1417320" cy="329184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42048" y="400507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/resume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668512" y="400507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E185D"/>
                </a:solidFill>
              </a:rPr>
              <a:t>Restore session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50608" y="4425696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Pick up a previous conversation by checkpoint.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C1917"/>
                </a:solidFill>
              </a:rPr>
              <a:t>Nothing is permanently lost after /clear.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150608" y="5431536"/>
            <a:ext cx="4480560" cy="292608"/>
          </a:xfrm>
          <a:prstGeom prst="roundRect">
            <a:avLst>
              <a:gd name="adj" fmla="val 21875"/>
            </a:avLst>
          </a:prstGeom>
          <a:solidFill>
            <a:srgbClr val="BE18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50608" y="543153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AF9"/>
                </a:solidFill>
              </a:rPr>
              <a:t>💡 CC snapshots every session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309360"/>
            <a:ext cx="12192000" cy="438912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6309360"/>
            <a:ext cx="1170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6FE"/>
                </a:solidFill>
              </a:rPr>
              <a:t>Pro move: ask CC to add a status line showing  directory + model + context %  to your terminal prompt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875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338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DE9FE"/>
                </a:solidFill>
              </a:rPr>
              <a:t>🧩  Extending CC: Skills · Sub-Agents · Hooks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1430000" cy="54864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8D9"/>
                </a:solidFill>
              </a:rPr>
              <a:t>CC is composable — the same multi-agent patterns in your apps, applied to your dev environment.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65760" y="1773936"/>
            <a:ext cx="3749040" cy="233172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8470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</a:rPr>
              <a:t>🎮  Skills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" y="224942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34E"/>
                </a:solidFill>
              </a:rPr>
              <a:t>Tool packs that extend CC's capabilities.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34E"/>
                </a:solidFill>
              </a:rPr>
              <a:t>Install once, invoke as /skillname.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743200"/>
            <a:ext cx="3419856" cy="36576"/>
          </a:xfrm>
          <a:prstGeom prst="rect">
            <a:avLst/>
          </a:prstGeom>
          <a:solidFill>
            <a:srgbClr val="C4B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0352" y="2816352"/>
            <a:ext cx="1828800" cy="256032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8163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frontend-design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50592" y="281635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</a:rPr>
              <a:t>Generate polished UI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3127248"/>
            <a:ext cx="1828800" cy="256032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312724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pptx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50592" y="312724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</a:rPr>
              <a:t>Build slide decks (this one!)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3438144"/>
            <a:ext cx="1828800" cy="256032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343814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50592" y="343814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</a:rPr>
              <a:t>Multi-agent review pass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3749040"/>
            <a:ext cx="1828800" cy="256032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" y="374904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find-skill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50592" y="37490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</a:rPr>
              <a:t>Search the skill registry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24528" y="1773936"/>
            <a:ext cx="3749040" cy="2331720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0" y="18470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🤖  Sub-Agents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389120" y="224942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34E"/>
                </a:solidFill>
              </a:rPr>
              <a:t>Specialized child agents — CC auto-parallelizes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34E"/>
                </a:solidFill>
              </a:rPr>
              <a:t>when tasks can run concurrently.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9120" y="2743200"/>
            <a:ext cx="3419856" cy="36576"/>
          </a:xfrm>
          <a:prstGeom prst="rect">
            <a:avLst/>
          </a:prstGeom>
          <a:solidFill>
            <a:srgbClr val="C4B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89120" y="2816352"/>
            <a:ext cx="1828800" cy="256032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80560" y="28163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/agents → Library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9360" y="281635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</a:rPr>
              <a:t>Create via guided flow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89120" y="3127248"/>
            <a:ext cx="1828800" cy="256032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80560" y="312724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 + scope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09360" y="312724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</a:rPr>
              <a:t>CC generates the agent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9120" y="3438144"/>
            <a:ext cx="1828800" cy="256032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480560" y="343814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Auto-triggered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09360" y="343814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</a:rPr>
              <a:t>CC decides when to fork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89120" y="3749040"/>
            <a:ext cx="1828800" cy="256032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480560" y="374904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@agent-name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09360" y="37490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</a:rPr>
              <a:t>Call it directly anytime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92440" y="1773936"/>
            <a:ext cx="3749040" cy="23317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57032" y="18470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2400E"/>
                </a:solidFill>
              </a:rPr>
              <a:t>🪝  Hooks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257032" y="224942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34E"/>
                </a:solidFill>
              </a:rPr>
              <a:t>Shell triggers on CC lifecycle events.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534E"/>
                </a:solidFill>
              </a:rPr>
              <a:t>Set once, runs automatically forever.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257032" y="2743200"/>
            <a:ext cx="3419856" cy="36576"/>
          </a:xfrm>
          <a:prstGeom prst="rect">
            <a:avLst/>
          </a:prstGeom>
          <a:solidFill>
            <a:srgbClr val="C4B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257032" y="2816352"/>
            <a:ext cx="1828800" cy="256032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348472" y="28163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PostTask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177272" y="281635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</a:rPr>
              <a:t>Play a "ding" when done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57032" y="3127248"/>
            <a:ext cx="1828800" cy="256032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348472" y="312724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PreCommit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177272" y="312724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</a:rPr>
              <a:t>Auto-run linter/formatter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257032" y="3438144"/>
            <a:ext cx="1828800" cy="256032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348472" y="343814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FileEdit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177272" y="343814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</a:rPr>
              <a:t>Flag sensitive file changes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257032" y="3749040"/>
            <a:ext cx="1828800" cy="256032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348472" y="374904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shell cmd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0177272" y="37490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</a:rPr>
              <a:t>Full bash/PS access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65760" y="4187952"/>
            <a:ext cx="11384280" cy="1993392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94360" y="4261104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803D"/>
                </a:solidFill>
              </a:rPr>
              <a:t>🧩  Plugins — bundles of Skills + Sub-Agents + Hooks in one install via  /plugin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502920" y="4709160"/>
            <a:ext cx="3611880" cy="1353312"/>
          </a:xfrm>
          <a:prstGeom prst="roundRect">
            <a:avLst>
              <a:gd name="adj" fmla="val 5405"/>
            </a:avLst>
          </a:prstGeom>
          <a:solidFill>
            <a:srgbClr val="F0F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40080" y="4773168"/>
            <a:ext cx="1920240" cy="310896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31520" y="477316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commit-commands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40080" y="513892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917"/>
                </a:solidFill>
              </a:rPr>
              <a:t>Git workflow: commit, push, PR in one shot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40080" y="5577840"/>
            <a:ext cx="3337560" cy="292608"/>
          </a:xfrm>
          <a:prstGeom prst="roundRect">
            <a:avLst>
              <a:gd name="adj" fmla="val 21875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40080" y="557784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B5FD"/>
                </a:solidFill>
              </a:rPr>
              <a:t>install via  /plugin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297680" y="4709160"/>
            <a:ext cx="3611880" cy="1353312"/>
          </a:xfrm>
          <a:prstGeom prst="roundRect">
            <a:avLst>
              <a:gd name="adj" fmla="val 5405"/>
            </a:avLst>
          </a:prstGeom>
          <a:solidFill>
            <a:srgbClr val="F0F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434840" y="4773168"/>
            <a:ext cx="1920240" cy="310896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526280" y="477316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content-creator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4434840" y="513892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917"/>
                </a:solidFill>
              </a:rPr>
              <a:t>Blog posts, video scripts, social media copy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4434840" y="5577840"/>
            <a:ext cx="3337560" cy="292608"/>
          </a:xfrm>
          <a:prstGeom prst="roundRect">
            <a:avLst>
              <a:gd name="adj" fmla="val 21875"/>
            </a:avLst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434840" y="557784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EF3C7"/>
                </a:solidFill>
              </a:rPr>
              <a:t>install via  /plugin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092440" y="4709160"/>
            <a:ext cx="3611880" cy="1353312"/>
          </a:xfrm>
          <a:prstGeom prst="roundRect">
            <a:avLst>
              <a:gd name="adj" fmla="val 5405"/>
            </a:avLst>
          </a:prstGeom>
          <a:solidFill>
            <a:srgbClr val="F0F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8229600" y="4773168"/>
            <a:ext cx="1920240" cy="310896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8321040" y="477316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security-guidance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8229600" y="513892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917"/>
                </a:solidFill>
              </a:rPr>
              <a:t>Flags XSS / injection risks as you edit code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229600" y="5577840"/>
            <a:ext cx="3337560" cy="292608"/>
          </a:xfrm>
          <a:prstGeom prst="roundRect">
            <a:avLst>
              <a:gd name="adj" fmla="val 21875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8229600" y="557784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FCE7"/>
                </a:solidFill>
              </a:rPr>
              <a:t>install via  /plugin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0" y="6309360"/>
            <a:ext cx="12192000" cy="438912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274320" y="6309360"/>
            <a:ext cx="1170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6FE"/>
                </a:solidFill>
              </a:rPr>
              <a:t>Community skills:  lobehub.com/skills  ·  Official plugins at  claude.ai/code/plugins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731520"/>
            <a:ext cx="3291840" cy="32918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5120640"/>
            <a:ext cx="2286000" cy="22860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509760" y="4937760"/>
            <a:ext cx="1280160" cy="12801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50" dirty="0">
                <a:solidFill>
                  <a:srgbClr val="EDE9FE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577840" cy="987552"/>
          </a:xfrm>
          <a:prstGeom prst="roundRect">
            <a:avLst>
              <a:gd name="adj" fmla="val 11111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1143000"/>
            <a:ext cx="621792" cy="621792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1430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AF9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16736" y="960120"/>
            <a:ext cx="4480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1917"/>
                </a:solidFill>
              </a:rPr>
              <a:t>CC is a different layer from Copilot — not a replacement.  Copilot for inline flow, CC for project-level tasks.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960120"/>
            <a:ext cx="5577840" cy="987552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82512" y="1143000"/>
            <a:ext cx="621792" cy="6217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82512" y="11430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AF9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68896" y="960120"/>
            <a:ext cx="4480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1917"/>
                </a:solidFill>
              </a:rPr>
              <a:t>The agentic loop (Plan → Execute → Verify) maps directly to how you already design agent systems.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5577840" cy="987552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0352" y="2240280"/>
            <a:ext cx="621792" cy="62179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224028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AF9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16736" y="2057400"/>
            <a:ext cx="4480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1917"/>
                </a:solidFill>
              </a:rPr>
              <a:t>Claude.md = system prompt.  Auto Memory = accumulated few-shots.  If you write prompts, you're fluent.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17920" y="2057400"/>
            <a:ext cx="5577840" cy="987552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82512" y="2240280"/>
            <a:ext cx="621792" cy="62179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82512" y="224028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AF9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68896" y="2057400"/>
            <a:ext cx="4480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1917"/>
                </a:solidFill>
              </a:rPr>
              <a:t>Context is a first-class resource — /compact and /clear are as important as any command in your workflow.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65760" y="3154680"/>
            <a:ext cx="11430000" cy="987552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0352" y="3337560"/>
            <a:ext cx="621792" cy="621792"/>
          </a:xfrm>
          <a:prstGeom prst="ellipse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" y="33375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AF9"/>
                </a:solidFill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16736" y="3154680"/>
            <a:ext cx="10332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1917"/>
                </a:solidFill>
              </a:rPr>
              <a:t>Skills / Sub-Agents / Hooks are the same multi-agent patterns in your apps — just aimed at your editor.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65760" y="4315968"/>
            <a:ext cx="11430000" cy="1737360"/>
          </a:xfrm>
          <a:prstGeom prst="roundRect">
            <a:avLst>
              <a:gd name="adj" fmla="val 6316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440740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B5FD"/>
                </a:solidFill>
              </a:rPr>
              <a:t>Where to go next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4360" y="482803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2D1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48828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🍅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88720" y="484632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4B5FD"/>
                </a:solidFill>
              </a:rPr>
              <a:t>Try CC on your own project — start with Plan Mode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429000" y="482803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2D1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66160" y="48828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023360" y="484632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4B5FD"/>
                </a:solidFill>
              </a:rPr>
              <a:t>Write a CLAUDE.md — treat it like a system prompt for your repo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482803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2D1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0" y="48828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58000" y="484632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4B5FD"/>
                </a:solidFill>
              </a:rPr>
              <a:t>Install  find-skill  — let it recommend the right tool for your next task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098280" y="482803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2D1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235440" y="48828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📺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692640" y="484632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4B5FD"/>
                </a:solidFill>
              </a:rPr>
              <a:t>Bilibili BV1NvRyBzEhq  — the video that started this share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0" y="6309360"/>
            <a:ext cx="12192000" cy="43891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6309360"/>
            <a:ext cx="1170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917"/>
                </a:solidFill>
              </a:rPr>
              <a:t>🙋  Questions?  ·  Let's pull up the Pomodoro and poke around together  🍅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1406</Words>
  <Application>Microsoft Office PowerPoint</Application>
  <PresentationFormat>Widescreen</PresentationFormat>
  <Paragraphs>240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Code: A Builder's First Look</dc:title>
  <dc:subject>PptxGenJS Presentation</dc:subject>
  <dc:creator>PptxGenJS</dc:creator>
  <cp:lastModifiedBy>Jie Wu</cp:lastModifiedBy>
  <cp:revision>2</cp:revision>
  <dcterms:created xsi:type="dcterms:W3CDTF">2026-05-29T07:44:28Z</dcterms:created>
  <dcterms:modified xsi:type="dcterms:W3CDTF">2026-05-29T08:00:49Z</dcterms:modified>
</cp:coreProperties>
</file>